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Saludo. Preséntate y abre el contexto: somos un equipo que diseñó un agente de IA para Banco Digital Chile. En 10 minutos mostraré el caso, la solución, una demo, los resultados de observabilidad y las mejoras propuestas.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el problema y por qué importa: volumen, costo, limitaciones del chatbot tradicional. Cierra con el desafío del recuadro.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qué hace el agente: 5 capacidades. Enfatiza que NO es solo un chatbot: ejecuta acciones reales y coordina especialistas.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las capas de arriba abajo: seguridad de entrada → agente LangChain (ReAct) + LLM → herramientas/RAG/memoria/orquestación → observabilidad de salida. Prepárate para '¿por qué LangChain y CrewAI?'.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ejecutas la DEMO real (ten el entorno listo). Muestra memoria (recuerda el saldo) y planificación (crédito multi-etapa). Si no hay API, usa el notebook.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que el RAG combina fuentes internas y externas (clave de la rúbrica). El ejemplo muestra recuperación de ambos orígenes. Menciona que en producción se usan embeddings densos.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las métricas reales sobre 688 interacciones: precisión 85%, error 6.9%, p95 8.3s, bloqueo de injection 88%. El panel es el dashboard de monitoreo.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que la observabilidad SIRVE: detectó un incidente automáticamente, identificó el cuello de botella y la causa raíz de los fallos (selección de herramienta y ambigüedad). Demuestra capacidad de análisis.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los 5 controles y el marco normativo. Reflexión ética en tus palabras: privacidad, confirmación humana, riesgo de sesgo. Prepárate para preguntas de dilemas éticos.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mejora se fundamenta en un hallazgo de las métricas. Prioriza la desambiguación (mayor impacto en precisión). Conecta con sostenibilidad y escalabilidad.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con la idea fuerza: solución medible, segura y escalable. Invita a preguntas. Responde con evidencia y lenguaje técnico (IE13–IE15).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Banco Digital Chile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D6E4F0"/>
                </a:solidFill>
                <a:latin typeface="Calibri"/>
              </a:rPr>
              <a:t>Solución de IA conversacional para banca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A33D"/>
                </a:solidFill>
                <a:latin typeface="Calibri"/>
              </a:rPr>
              <a:t>Defensa — Evaluación Final Transversal · ISY0101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B8C4D0"/>
                </a:solidFill>
                <a:latin typeface="Calibri"/>
              </a:rPr>
              <a:t>Roger Rosas · Rodrigo Santis · Edgardo Gutiérrez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Junio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548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B8C4D0"/>
                </a:solidFill>
                <a:latin typeface="Calibri"/>
              </a:rPr>
              <a:t>REUNIÓN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El caso organizacional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700">
                <a:solidFill>
                  <a:srgbClr val="222B35"/>
                </a:solidFill>
                <a:latin typeface="Calibri"/>
              </a:rPr>
              <a:t>Banco 100% digital. </a:t>
            </a:r>
            <a:r>
              <a:rPr sz="1700">
                <a:solidFill>
                  <a:srgbClr val="222B35"/>
                </a:solidFill>
                <a:latin typeface="Calibri"/>
              </a:rPr>
              <a:t>Alto volumen de consultas repetitivas y operaciones sensibles.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700">
                <a:solidFill>
                  <a:srgbClr val="222B35"/>
                </a:solidFill>
                <a:latin typeface="Calibri"/>
              </a:rPr>
              <a:t>Atención humana no escala. </a:t>
            </a:r>
            <a:r>
              <a:rPr sz="1700">
                <a:solidFill>
                  <a:srgbClr val="222B35"/>
                </a:solidFill>
                <a:latin typeface="Calibri"/>
              </a:rPr>
              <a:t>Costos altos y tiempos de espera.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700">
                <a:solidFill>
                  <a:srgbClr val="222B35"/>
                </a:solidFill>
                <a:latin typeface="Calibri"/>
              </a:rPr>
              <a:t>Chatbot de reglas insuficiente. </a:t>
            </a:r>
            <a:r>
              <a:rPr sz="1700">
                <a:solidFill>
                  <a:srgbClr val="222B35"/>
                </a:solidFill>
                <a:latin typeface="Calibri"/>
              </a:rPr>
              <a:t>No entiende lenguaje natural ni ejecuta acciones.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700">
                <a:solidFill>
                  <a:srgbClr val="222B35"/>
                </a:solidFill>
                <a:latin typeface="Calibri"/>
              </a:rPr>
              <a:t>Exigencias. </a:t>
            </a:r>
            <a:r>
              <a:rPr sz="1700">
                <a:solidFill>
                  <a:srgbClr val="222B35"/>
                </a:solidFill>
                <a:latin typeface="Calibri"/>
              </a:rPr>
              <a:t>Trazabilidad, seguridad y cumplimiento (Ley 19.628, CMF).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4663440" cy="3566160"/>
          </a:xfrm>
          <a:prstGeom prst="round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Georgia"/>
              </a:rPr>
              <a:t>El desafío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1F4E79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22B35"/>
                </a:solidFill>
                <a:latin typeface="Calibri"/>
              </a:rPr>
              <a:t>Automatizar la atención de extremo a extremo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manteniendo contexto, seguridad y trazabilidad, sin sacrificar la experiencia del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La solución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Calibri"/>
              </a:rPr>
              <a:t>Un agente conversacional que consulta, opera y razona — con LLM + RAG, memoria, planificación y orquestación multi-agente.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121408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Consulta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Saldos, productos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y condiciones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2286000"/>
            <a:ext cx="2121408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260604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Opera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Transferencias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y reclamos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912" y="2286000"/>
            <a:ext cx="2121408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260604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Razona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Simulación de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créditos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2286000"/>
            <a:ext cx="2121408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260604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Recuerda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Memoria CP/LP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por cliente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2286000"/>
            <a:ext cx="2121408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3184" y="2606040"/>
            <a:ext cx="21214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Coordina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Orquestación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multi-agente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Arquitectura de la solución</a:t>
            </a:r>
          </a:p>
        </p:txBody>
      </p:sp>
      <p:pic>
        <p:nvPicPr>
          <p:cNvPr id="5" name="Picture 4" descr="00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25880"/>
            <a:ext cx="668175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Agente funcional  ·  demostración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Herramientas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337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consultar_saldo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realizar_transferencia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calcular_cuota_credito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registrar_reclamo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buscar_producto (RAG)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611880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3337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Corto plazo: ventana k=5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Largo plazo: JSON por RUT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Continuidad entre sesiones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11880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Planificación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3337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Plan-and-Execute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CrewAI: 4 roles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▪  </a:t>
            </a:r>
            <a:r>
              <a:rPr sz="1350">
                <a:solidFill>
                  <a:srgbClr val="222B35"/>
                </a:solidFill>
                <a:latin typeface="Calibri"/>
              </a:rPr>
              <a:t>Delegación jerárquica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32120"/>
            <a:ext cx="11064240" cy="868680"/>
          </a:xfrm>
          <a:prstGeom prst="round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DEMO EN VIVO:  </a:t>
            </a:r>
            <a:r>
              <a:rPr sz="1400" b="0" i="0">
                <a:solidFill>
                  <a:srgbClr val="222B35"/>
                </a:solidFill>
                <a:latin typeface="Calibri"/>
              </a:rPr>
              <a:t>consulta de saldo con RUT → simulación de crédito multi-etapa → dashboard de métricas.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Diseño LLM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600">
                <a:solidFill>
                  <a:srgbClr val="222B35"/>
                </a:solidFill>
                <a:latin typeface="Calibri"/>
              </a:rPr>
              <a:t>Prompts. </a:t>
            </a:r>
            <a:r>
              <a:rPr sz="1600">
                <a:solidFill>
                  <a:srgbClr val="222B35"/>
                </a:solidFill>
                <a:latin typeface="Calibri"/>
              </a:rPr>
              <a:t>System prompt con rol y reglas + few-shot + chain-of-thought.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600">
                <a:solidFill>
                  <a:srgbClr val="222B35"/>
                </a:solidFill>
                <a:latin typeface="Calibri"/>
              </a:rPr>
              <a:t>RAG. </a:t>
            </a:r>
            <a:r>
              <a:rPr sz="1600">
                <a:solidFill>
                  <a:srgbClr val="222B35"/>
                </a:solidFill>
                <a:latin typeface="Calibri"/>
              </a:rPr>
              <a:t>Chunking → TF-IDF → recuperación top-k para fundamentar respuestas.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600">
                <a:solidFill>
                  <a:srgbClr val="222B35"/>
                </a:solidFill>
                <a:latin typeface="Calibri"/>
              </a:rPr>
              <a:t>Fuentes internas. </a:t>
            </a:r>
            <a:r>
              <a:rPr sz="1600">
                <a:solidFill>
                  <a:srgbClr val="222B35"/>
                </a:solidFill>
                <a:latin typeface="Calibri"/>
              </a:rPr>
              <a:t>Productos y políticas del banco.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600">
                <a:solidFill>
                  <a:srgbClr val="222B35"/>
                </a:solidFill>
                <a:latin typeface="Calibri"/>
              </a:rPr>
              <a:t>Fuentes externas. </a:t>
            </a:r>
            <a:r>
              <a:rPr sz="1600">
                <a:solidFill>
                  <a:srgbClr val="222B35"/>
                </a:solidFill>
                <a:latin typeface="Calibri"/>
              </a:rPr>
              <a:t>Normativa CMF, SERNAC y Ley 19.628.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4754880" cy="3840480"/>
          </a:xfrm>
          <a:prstGeom prst="round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65960"/>
            <a:ext cx="4206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Georgia"/>
              </a:rPr>
              <a:t>Recuperación combinada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A5A5A"/>
                </a:solidFill>
                <a:latin typeface="Calibri"/>
              </a:rPr>
              <a:t>Consulta: tasa de crédito + deber de información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B35"/>
                </a:solidFill>
                <a:latin typeface="Calibri"/>
              </a:rPr>
              <a:t>● interna — Catálogo de productos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B35"/>
                </a:solidFill>
                <a:latin typeface="Calibri"/>
              </a:rPr>
              <a:t>● externa — CMF (información al cliente)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B35"/>
                </a:solidFill>
                <a:latin typeface="Calibri"/>
              </a:rPr>
              <a:t>● interna — Política de crédito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→ combina ambos orígenes en una sola respuesta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Observabilidad — resultados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51760" cy="1371600"/>
          </a:xfrm>
          <a:prstGeom prst="roundRect">
            <a:avLst/>
          </a:prstGeom>
          <a:noFill/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2E7D32"/>
                </a:solidFill>
                <a:latin typeface="Georgia"/>
              </a:rPr>
              <a:t>85%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Precisión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508760"/>
            <a:ext cx="2651760" cy="1371600"/>
          </a:xfrm>
          <a:prstGeom prst="roundRect">
            <a:avLst/>
          </a:prstGeom>
          <a:noFill/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572768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E8A33D"/>
                </a:solidFill>
                <a:latin typeface="Georgia"/>
              </a:rPr>
              <a:t>6.9%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Tasa de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4" y="1508760"/>
            <a:ext cx="2651760" cy="1371600"/>
          </a:xfrm>
          <a:prstGeom prst="round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9904" y="1572768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1F4E79"/>
                </a:solidFill>
                <a:latin typeface="Georgia"/>
              </a:rPr>
              <a:t>8.3s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Latencia p95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0536" y="1508760"/>
            <a:ext cx="2651760" cy="1371600"/>
          </a:xfrm>
          <a:prstGeom prst="roundRect">
            <a:avLst/>
          </a:prstGeom>
          <a:noFill/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0536" y="1572768"/>
            <a:ext cx="26517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C0392B"/>
                </a:solidFill>
                <a:latin typeface="Georgia"/>
              </a:rPr>
              <a:t>88%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Bloqueo injection</a:t>
            </a:r>
          </a:p>
        </p:txBody>
      </p:sp>
      <p:pic>
        <p:nvPicPr>
          <p:cNvPr id="13" name="Picture 12" descr="01_precision_por_e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5486400" cy="2786063"/>
          </a:xfrm>
          <a:prstGeom prst="rect">
            <a:avLst/>
          </a:prstGeom>
        </p:spPr>
      </p:pic>
      <p:pic>
        <p:nvPicPr>
          <p:cNvPr id="14" name="Picture 13" descr="02_latencia_por_e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00400"/>
            <a:ext cx="5486400" cy="2779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Trazabilidad — hallazgos clave</a:t>
            </a:r>
          </a:p>
        </p:txBody>
      </p:sp>
      <p:pic>
        <p:nvPicPr>
          <p:cNvPr id="5" name="Picture 4" descr="03_serie_temporal_incid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669280" cy="2684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Incidente detectado. </a:t>
            </a:r>
            <a:r>
              <a:rPr sz="1550">
                <a:solidFill>
                  <a:srgbClr val="222B35"/>
                </a:solidFill>
                <a:latin typeface="Calibri"/>
              </a:rPr>
              <a:t>2025-06-11, latencia y error con z≈3 (auto-detección).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Cuello de botella. </a:t>
            </a:r>
            <a:r>
              <a:rPr sz="1550">
                <a:solidFill>
                  <a:srgbClr val="222B35"/>
                </a:solidFill>
                <a:latin typeface="Calibri"/>
              </a:rPr>
              <a:t>Orquestación multi-agente, p95 ≈ 21 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Predictor de éxito. </a:t>
            </a:r>
            <a:r>
              <a:rPr sz="1550">
                <a:solidFill>
                  <a:srgbClr val="222B35"/>
                </a:solidFill>
                <a:latin typeface="Calibri"/>
              </a:rPr>
              <a:t>Elegir la herramienta correcta: 95% vs 0%.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Ambigüedad. </a:t>
            </a:r>
            <a:r>
              <a:rPr sz="1550">
                <a:solidFill>
                  <a:srgbClr val="222B35"/>
                </a:solidFill>
                <a:latin typeface="Calibri"/>
              </a:rPr>
              <a:t>Precisión cae 37 pp con entradas poco claras.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Seguridad y uso responsable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Privacidad por diseño. </a:t>
            </a:r>
            <a:r>
              <a:rPr sz="1550">
                <a:solidFill>
                  <a:srgbClr val="222B35"/>
                </a:solidFill>
                <a:latin typeface="Calibri"/>
              </a:rPr>
              <a:t>Enmascaramiento de PII (RUT, tarjeta) en logs y prompts.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Anti prompt-injection. </a:t>
            </a:r>
            <a:r>
              <a:rPr sz="1550">
                <a:solidFill>
                  <a:srgbClr val="222B35"/>
                </a:solidFill>
                <a:latin typeface="Calibri"/>
              </a:rPr>
              <a:t>Bloqueo de manipulación del prompt (OWASP LLM01).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Rate-limit + validación. </a:t>
            </a:r>
            <a:r>
              <a:rPr sz="1550">
                <a:solidFill>
                  <a:srgbClr val="222B35"/>
                </a:solidFill>
                <a:latin typeface="Calibri"/>
              </a:rPr>
              <a:t>Control de abuso y saneamiento de entrada.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Auditoría con hash. </a:t>
            </a:r>
            <a:r>
              <a:rPr sz="1550">
                <a:solidFill>
                  <a:srgbClr val="222B35"/>
                </a:solidFill>
                <a:latin typeface="Calibri"/>
              </a:rPr>
              <a:t>Bitácora con integridad (no-repudio).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E8A33D"/>
                </a:solidFill>
                <a:latin typeface="Calibri"/>
              </a:rPr>
              <a:t>▪  </a:t>
            </a:r>
            <a:r>
              <a:rPr b="1" sz="1550">
                <a:solidFill>
                  <a:srgbClr val="222B35"/>
                </a:solidFill>
                <a:latin typeface="Calibri"/>
              </a:rPr>
              <a:t>Confirmación humana. </a:t>
            </a:r>
            <a:r>
              <a:rPr sz="1550">
                <a:solidFill>
                  <a:srgbClr val="222B35"/>
                </a:solidFill>
                <a:latin typeface="Calibri"/>
              </a:rPr>
              <a:t>Toda transferencia se valida explícitamente.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4754880" cy="3749039"/>
          </a:xfrm>
          <a:prstGeom prst="round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011680"/>
            <a:ext cx="4206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8A33D"/>
                </a:solidFill>
                <a:latin typeface="Georgia"/>
              </a:rPr>
              <a:t>Marco normativo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Ley 19.628 — datos personales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Normativa CMF — ciberseguridad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OWASP Top 10 for LLM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D6E4F0"/>
                </a:solidFill>
                <a:latin typeface="Calibri"/>
              </a:rPr>
              <a:t>Ética: transparencia, no maleficencia,</a:t>
            </a:r>
          </a:p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D6E4F0"/>
                </a:solidFill>
                <a:latin typeface="Calibri"/>
              </a:rPr>
              <a:t>equidad y supervisión humana.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572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F2540"/>
                </a:solidFill>
                <a:latin typeface="Georg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Georgia"/>
              </a:rPr>
              <a:t>Mejoras propuestas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F2540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18488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Desambiguación de intención.  </a:t>
            </a:r>
            <a:r>
              <a:rPr sz="1500" b="0" i="0">
                <a:solidFill>
                  <a:srgbClr val="222B35"/>
                </a:solidFill>
                <a:latin typeface="Calibri"/>
              </a:rPr>
              <a:t>clarificar + few-shot de enrutamiento (mayor precisión)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F2540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51176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Optimizar multi-agente.  </a:t>
            </a:r>
            <a:r>
              <a:rPr sz="1500" b="0" i="0">
                <a:solidFill>
                  <a:srgbClr val="222B35"/>
                </a:solidFill>
                <a:latin typeface="Calibri"/>
              </a:rPr>
              <a:t>paralelizar y cachear (menor latencia y costo)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F2540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Resiliencia.  </a:t>
            </a:r>
            <a:r>
              <a:rPr sz="1500" b="0" i="0">
                <a:solidFill>
                  <a:srgbClr val="222B35"/>
                </a:solidFill>
                <a:latin typeface="Calibri"/>
              </a:rPr>
              <a:t>reintentos con backoff + modelo de respaldo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F2540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16552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Reforzar guardrail.  </a:t>
            </a:r>
            <a:r>
              <a:rPr sz="1500" b="0" i="0">
                <a:solidFill>
                  <a:srgbClr val="222B35"/>
                </a:solidFill>
                <a:latin typeface="Calibri"/>
              </a:rPr>
              <a:t>clasificador LLM + canary tokens (bloqueo →100%)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72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F2540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4924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Monitoreo proactivo.  </a:t>
            </a:r>
            <a:r>
              <a:rPr sz="1500" b="0" i="0">
                <a:solidFill>
                  <a:srgbClr val="222B35"/>
                </a:solidFill>
                <a:latin typeface="Calibri"/>
              </a:rPr>
              <a:t>alertas por umbrales sobre el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Una solución medible, segura y escalable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D6E4F0"/>
                </a:solidFill>
                <a:latin typeface="Calibri"/>
              </a:rPr>
              <a:t>LLM + RAG + agentes + observabilidad, de extremo a extremo.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B8C4D0"/>
                </a:solidFill>
                <a:latin typeface="Calibri"/>
              </a:rPr>
              <a:t>Repositorio: github.com/rogrosas/Ingenier-a-de-Soluciones-con-Inteligencia-Artificial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A33D"/>
                </a:solidFill>
                <a:latin typeface="Georgia"/>
              </a:rPr>
              <a:t>Gracias —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